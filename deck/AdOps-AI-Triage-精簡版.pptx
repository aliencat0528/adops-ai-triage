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中位處理時數</c:v>
                </c:pt>
              </c:strCache>
            </c:strRef>
          </c:tx>
          <c:spPr>
            <a:solidFill>
              <a:srgbClr val="B84A16"/>
            </a:solidFill>
            <a:effectLst/>
          </c:spPr>
          <c:invertIfNegative val="0"/>
          <c:dLbls>
            <c:numFmt formatCode="0.0&quot;h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0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 次</c:v>
                  </c:pt>
                  <c:pt idx="1">
                    <c:v>1 次</c:v>
                  </c:pt>
                  <c:pt idx="2">
                    <c:v>2 次</c:v>
                  </c:pt>
                  <c:pt idx="3">
                    <c:v>3 次</c:v>
                  </c:pt>
                  <c:pt idx="4">
                    <c:v>4 次</c:v>
                  </c:pt>
                  <c:pt idx="5">
                    <c:v>5 次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6.4</c:v>
                </c:pt>
                <c:pt idx="1">
                  <c:v>7.9</c:v>
                </c:pt>
                <c:pt idx="2">
                  <c:v>11.4</c:v>
                </c:pt>
                <c:pt idx="3">
                  <c:v>12.4</c:v>
                </c:pt>
                <c:pt idx="4">
                  <c:v>17.1</c:v>
                </c:pt>
                <c:pt idx="5">
                  <c:v>19.1</c:v>
                </c:pt>
              </c:numCache>
            </c:numRef>
          </c:val>
        </c:ser>
        <c:dLbls>
          <c:numFmt formatCode="0.0&quot;h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620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C6B7A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C6B7A"/>
                    </a:solidFill>
                    <a:latin typeface="Arial"/>
                  </a:rPr>
                  <a:t>來回釐清次數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l"/>
        <c:majorGridlines>
          <c:spPr>
            <a:ln w="6350" cap="flat">
              <a:solidFill>
                <a:srgbClr val="D3DB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佔工單量</c:v>
                </c:pt>
              </c:strCache>
            </c:strRef>
          </c:tx>
          <c:spPr>
            <a:solidFill>
              <a:srgbClr val="5C6B7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620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L0 人工</c:v>
                  </c:pt>
                  <c:pt idx="1">
                    <c:v>L1 分診補件</c:v>
                  </c:pt>
                  <c:pt idx="2">
                    <c:v>L2 自助回覆</c:v>
                  </c:pt>
                  <c:pt idx="3">
                    <c:v>L3 自動診斷</c:v>
                  </c:pt>
                  <c:pt idx="4">
                    <c:v>L4 自動修復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19.8</c:v>
                </c:pt>
                <c:pt idx="1">
                  <c:v>25.3</c:v>
                </c:pt>
                <c:pt idx="2">
                  <c:v>19.2</c:v>
                </c:pt>
                <c:pt idx="3">
                  <c:v>28.3</c:v>
                </c:pt>
                <c:pt idx="4">
                  <c:v>7.3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佔工程時數</c:v>
                </c:pt>
              </c:strCache>
            </c:strRef>
          </c:tx>
          <c:spPr>
            <a:solidFill>
              <a:srgbClr val="B84A16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620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L0 人工</c:v>
                  </c:pt>
                  <c:pt idx="1">
                    <c:v>L1 分診補件</c:v>
                  </c:pt>
                  <c:pt idx="2">
                    <c:v>L2 自助回覆</c:v>
                  </c:pt>
                  <c:pt idx="3">
                    <c:v>L3 自動診斷</c:v>
                  </c:pt>
                  <c:pt idx="4">
                    <c:v>L4 自動修復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22.4</c:v>
                </c:pt>
                <c:pt idx="1">
                  <c:v>34</c:v>
                </c:pt>
                <c:pt idx="2">
                  <c:v>7</c:v>
                </c:pt>
                <c:pt idx="3">
                  <c:v>27.3</c:v>
                </c:pt>
                <c:pt idx="4">
                  <c:v>9.3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950" u="none">
                  <a:solidFill>
                    <a:srgbClr val="1620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D3DB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5C6B7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開場一句話：這個專案的起點不是「我想做 AI」，而是「我看不見什麼」。所有資料皆為模擬生成，面試時務必主動說明。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這一頁的作用是建立同理，讓聽的人想起自己團隊也有一樣的爭執。不要急著講解法。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重點：不是工具不好，是欄位設計決定了哪些問題能被回答。這是資料工程的核心觀點。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順序很重要：不是先想做 AI，是先讓成本結構可見，再讓資料指出該蓋什麼。這是整份簡報的論證核心。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這是全簡報最重要的一張圖。對數迴歸係數 0.2002，換算每次釐清 +22.2%。相關係數 -0.727 是全資料集最強的關聯。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這一頁是「資料反推系統設計」最有說服力的證據：直覺會告訴你先做診斷，資料說先做入口。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2026-01-12 Meta 移除 7d_view/28d_view，API 回空值不報錯，轉換數掉 15-40%，很多團隊查了兩天才發現。這就是靜默失敗。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面試常見追問：那增強型和複利型不重要嗎？答：複利型不直接產生效益，但它決定前三型三年後還有沒有效。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紅線是這頁的重點。L0-L3 唯讀所以可以放心讓 AI 全權；L4 以下會寫入，所以要允許清單加風險分級。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檢驗一和檢驗二實際上導出了架構修正，不是事後補的說法。面試時可以強調：我對自己的設計做了反駁。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這頁通常最能引出好問題。準備好回答：那你怎麼知道自己沒有在挑對自己有利的數字？答：因為兩個反例都寫進去了。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收尾一句：這份規劃附帶一包可以直接開工的專案骨架，解壓縮、開 VS Code 就能接著做。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481328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 DESIGN · 模擬資料專案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96596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AdOps AI Triage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66928" y="2907792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F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廣告支援工程需求單的 AI 化設計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352958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E9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先找出成本結構，再決定該蓋什麼系統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4224528"/>
            <a:ext cx="11057839" cy="12802"/>
          </a:xfrm>
          <a:prstGeom prst="rect">
            <a:avLst/>
          </a:prstGeom>
          <a:solidFill>
            <a:srgbClr val="35485C"/>
          </a:solidFill>
          <a:ln w="12700">
            <a:solidFill>
              <a:srgbClr val="3548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4443984"/>
            <a:ext cx="25815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640 筆 × 54 欄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" y="4773168"/>
            <a:ext cx="258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需求單資料集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1388" y="4443984"/>
            <a:ext cx="25815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 個月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331388" y="4773168"/>
            <a:ext cx="258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2025-08 ~ 2026-08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5848" y="4443984"/>
            <a:ext cx="25815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大平台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095848" y="4773168"/>
            <a:ext cx="258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· Google · LINE · Feed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860307" y="4443984"/>
            <a:ext cx="25815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種組織情境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860307" y="4773168"/>
            <a:ext cx="25815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代理商 · SaaS · 品牌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5998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資料為模擬生成，不含任何真實企業或客戶資料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FB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pPr algn="r" indent="0" marL="0">
              <a:buNone/>
            </a:pPr>
            <a:r>
              <a:rPr lang="en-US" sz="1000" dirty="0">
                <a:solidFill>
                  <a:srgbClr val="6E7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問題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我看到的矛盾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兩邊都覺得自己在等對方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057400"/>
            <a:ext cx="5349240" cy="228600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240280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 BUYER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6384" y="2478024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投手說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384" y="2898648"/>
            <a:ext cx="49103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 都不理我，一個追蹤問題拖三天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客戶一直問，我沒東西可以回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每次都要重新解釋一遍背景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81928" y="2057400"/>
            <a:ext cx="5349240" cy="228600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01384" y="2240280"/>
            <a:ext cx="4910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ENGINEER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01384" y="2478024"/>
            <a:ext cx="4910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 說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01384" y="2898648"/>
            <a:ext cx="491032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單子寫得我看不懂，光問清楚就三輪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說「數字不對」，但沒說哪個帳號、哪個指標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查完發現不是我方問題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66928" y="4681728"/>
            <a:ext cx="11057839" cy="1170432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4846320"/>
            <a:ext cx="104726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這種爭論永遠停在感覺層次，因為沒有人握有數字。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9536" y="5266944"/>
            <a:ext cx="104726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所以我的第一個問題不是「怎麼解決」，而是「為什麼沒有人能證明誰對」。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問題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現有工單系統的盲點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它答得出「多久」，答不出「為什麼」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139696"/>
            <a:ext cx="3566160" cy="187452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267712"/>
            <a:ext cx="3163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 小時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68096" y="2871216"/>
            <a:ext cx="3163824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工單中位處理時間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這是現有系統唯一能給的答案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90288" y="2139696"/>
            <a:ext cx="10058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？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5870448" y="2286000"/>
            <a:ext cx="575431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 10.3 小時裡，有多少在真正除錯？</a:t>
            </a:r>
            <a:endParaRPr lang="en-US" sz="16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有多少在等對方回訊息？</a:t>
            </a:r>
            <a:endParaRPr lang="en-US" sz="16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有多少花在查錯方向？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566928" y="4443984"/>
            <a:ext cx="11057839" cy="12802"/>
          </a:xfrm>
          <a:prstGeom prst="rect">
            <a:avLst/>
          </a:prstGeom>
          <a:solidFill>
            <a:srgbClr val="D3DBE3"/>
          </a:solidFill>
          <a:ln w="12700">
            <a:solidFill>
              <a:srgbClr val="D3DB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70001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一般工單系統只記三件事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5120640"/>
            <a:ext cx="2423160" cy="658368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51206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什麼問題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64408" y="5120640"/>
            <a:ext cx="2423160" cy="658368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64408" y="51206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誰處理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61888" y="5120640"/>
            <a:ext cx="2423160" cy="658368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512064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多久解決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33688" y="5120640"/>
            <a:ext cx="269107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欄位結構讓「為什麼」這個問題無法被回答 —— 這才是真正的問題。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21792" cy="274320"/>
          </a:xfrm>
          <a:prstGeom prst="roundRect">
            <a:avLst>
              <a:gd name="adj" fmla="val 16667"/>
            </a:avLst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資料設計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所以我補了三組欄位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設計資料的動機：讓看不見的成本變得可測量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084832"/>
            <a:ext cx="3533546" cy="214884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267712"/>
            <a:ext cx="309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F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6384" y="2505456"/>
            <a:ext cx="3094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提單品質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384" y="2926080"/>
            <a:ext cx="309463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完整度分數 0–100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缺漏欄位清單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來回釐清次數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29074" y="2084832"/>
            <a:ext cx="3533546" cy="214884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48530" y="2267712"/>
            <a:ext cx="309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48530" y="2505456"/>
            <a:ext cx="3094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根因分類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48530" y="2926080"/>
            <a:ext cx="309463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根因大類 11 種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修復責任方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天復發標記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1221" y="2084832"/>
            <a:ext cx="3533546" cy="214884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0677" y="2267712"/>
            <a:ext cx="309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H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310677" y="2505456"/>
            <a:ext cx="3094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可預防性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10677" y="2926080"/>
            <a:ext cx="309463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自動化分級 L0–L4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可否主動偵測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建議偵測訊號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4443984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每組欄位回答一個問題，每個答案直接對應一個系統設計決策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66928" y="480974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時間到底花在哪？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498848" y="4809744"/>
            <a:ext cx="71259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提單助理（把成本擋在入口）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" y="52120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問題出在誰身上？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98848" y="5212080"/>
            <a:ext cx="71259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主動偵測器（Shift-Left）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66928" y="56144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哪些不該變成工單？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98848" y="5614416"/>
            <a:ext cx="712591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知識檢索與回寫迴圈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26948" cy="274320"/>
          </a:xfrm>
          <a:prstGeom prst="roundRect">
            <a:avLst>
              <a:gd name="adj" fmla="val 16667"/>
            </a:avLst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26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發現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釐清次數是成本放大器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每多問一次，代價 22.2%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2029968"/>
          <a:ext cx="68580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90688" y="2029968"/>
            <a:ext cx="3834079" cy="969264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91856" y="2157984"/>
            <a:ext cx="343174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+22.2%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7991856" y="2761488"/>
            <a:ext cx="343174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每多一次釐清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處理時數增加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90688" y="3145536"/>
            <a:ext cx="3834079" cy="969264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91856" y="3273552"/>
            <a:ext cx="343174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-0.727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7991856" y="3877056"/>
            <a:ext cx="343174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完整度與釐清次數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相關係數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790688" y="4261104"/>
            <a:ext cx="3834079" cy="969264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91856" y="4389120"/>
            <a:ext cx="343174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9.4%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7991856" y="4992624"/>
            <a:ext cx="343174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只有這麼多工單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一次到位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566928" y="544068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滿意度同步下滑：釐清 0 次 4.39 分 → 釐清 5 次 3.10 分。每一次「請問你說的是哪個帳號」，同時在燒工程時數和客戶耐心。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26948" cy="274320"/>
          </a:xfrm>
          <a:prstGeom prst="roundRect">
            <a:avLst>
              <a:gd name="adj" fmla="val 16667"/>
            </a:avLst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26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發現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最貴的不是難題，是講不清楚的題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違反直覺的一筆數字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66928" y="2029968"/>
          <a:ext cx="71323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065008" y="2029968"/>
            <a:ext cx="3559759" cy="150876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84464" y="2212848"/>
            <a:ext cx="31208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反直覺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8284464" y="2450592"/>
            <a:ext cx="3120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只佔 25.3% 的量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84464" y="2871216"/>
            <a:ext cx="3120847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卻吃掉 34.0% 的工程時數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是所有分級中最高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065008" y="3703320"/>
            <a:ext cx="3559759" cy="1527048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84464" y="3886200"/>
            <a:ext cx="312084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更反直覺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284464" y="4123944"/>
            <a:ext cx="3120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中位 15.4 小時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8284464" y="4544568"/>
            <a:ext cx="312084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比真正需要人工深度介入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的 L0（12.1 小時）還久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66928" y="5440680"/>
            <a:ext cx="11057839" cy="658368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9536" y="5440680"/>
            <a:ext cx="1047262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如果只能做一件事，做提單助理，不做診斷 Agent —— 診斷再聰明，也救不了一張「客戶說數字不對，很急」的單。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726948" cy="274320"/>
          </a:xfrm>
          <a:prstGeom prst="roundRect">
            <a:avLst>
              <a:gd name="adj" fmla="val 16667"/>
            </a:avLst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7269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發現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近半數工單可以在發生前攔截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48.9% 標註為可預防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103120"/>
          <a:ext cx="77724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383280"/>
                <a:gridCol w="1097280"/>
                <a:gridCol w="137160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偵測器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訊號來源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可攔截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5C6B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對應工時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Changelog 監控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平台變更公告 × 客戶使用參數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101 單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B84A16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810 小時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 健檢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Feed 值 vs 到達頁逐項比對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52 單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321 小時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Tag 巡檢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每日爬頁比對觸發指紋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47 單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253 小時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憑證到期預警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到期日與 API 錯誤率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35 單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 小時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62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GTM 發布哨兵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431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容器發布後自動回歸測試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30 單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620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151 小時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3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705088" y="2103120"/>
            <a:ext cx="2919679" cy="1463040"/>
          </a:xfrm>
          <a:prstGeom prst="rect">
            <a:avLst/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06256" y="2231136"/>
            <a:ext cx="251734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48.9%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906256" y="2834640"/>
            <a:ext cx="251734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工單標註為可預防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另有 15.9% 部分可預防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8705088" y="3712464"/>
            <a:ext cx="2919679" cy="137160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24544" y="3913632"/>
            <a:ext cx="24807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共同點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924544" y="4334256"/>
            <a:ext cx="2480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問題發生時系統知道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只是沒有人在看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66928" y="5394960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監控單獨一項就對應 810 小時 —— 因為它攔截的正是「API 不報錯但回空值」的靜默失敗。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21792" cy="274320"/>
          </a:xfrm>
          <a:prstGeom prst="roundRect">
            <a:avLst>
              <a:gd name="adj" fmla="val 16667"/>
            </a:avLst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設計原則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介入的四種型態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「取代人做的事」和「讓事情不發生」是兩件事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084832"/>
            <a:ext cx="5346040" cy="141732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267712"/>
            <a:ext cx="490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形狀不變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6384" y="2505456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替代型　Substitution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2926080"/>
            <a:ext cx="49071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同一條流程，人做的動作換 AI 做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流程形狀不變，單位成本下降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8728" y="2084832"/>
            <a:ext cx="5346040" cy="1417320"/>
          </a:xfrm>
          <a:prstGeom prst="rect">
            <a:avLst/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8184" y="2267712"/>
            <a:ext cx="490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形狀改變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98184" y="2505456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預防型　Prevention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8184" y="2926080"/>
            <a:ext cx="49071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改變流程本身，讓工單不產生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工單總量下降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758184"/>
            <a:ext cx="5346040" cy="141732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3941064"/>
            <a:ext cx="490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形狀不變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86384" y="4178808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增強型　Augmentation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86384" y="4599432"/>
            <a:ext cx="49071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人仍在流程中，但 AI 給更好的輸入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決策品質與速度提升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78728" y="3758184"/>
            <a:ext cx="5346040" cy="1417320"/>
          </a:xfrm>
          <a:prstGeom prst="rect">
            <a:avLst/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8184" y="3941064"/>
            <a:ext cx="490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自我改變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98184" y="4178808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複利型　Compounding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8184" y="4599432"/>
            <a:ext cx="490712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系統從每次結案學習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前三型的覆蓋率隨時間上升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5468112"/>
            <a:ext cx="11057839" cy="676656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9536" y="5468112"/>
            <a:ext cx="10472623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權重刻意不平均：預防型（48.9% 可預防）與替代型的入口（34.0% 工時）是主戰場。若資源只夠做兩型，做這兩型。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系統架構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七層，以及一條把整套系統分成兩半的紅線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8595360" cy="438912"/>
          </a:xfrm>
          <a:prstGeom prst="rect">
            <a:avLst/>
          </a:prstGeom>
          <a:solidFill>
            <a:srgbClr val="24313F"/>
          </a:solidFill>
          <a:ln w="12700">
            <a:solidFill>
              <a:srgbClr val="314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51790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15179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感知層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52928" y="1517904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六個主動偵測器 · 在開單之前攔截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8595360" cy="438912"/>
          </a:xfrm>
          <a:prstGeom prst="rect">
            <a:avLst/>
          </a:prstGeom>
          <a:solidFill>
            <a:srgbClr val="24313F"/>
          </a:solidFill>
          <a:ln w="12700">
            <a:solidFill>
              <a:srgbClr val="3141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8096" y="2048256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0482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受理層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52928" y="2048256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提單助理 · 完整度評分 · 自動補件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578608"/>
            <a:ext cx="8595360" cy="438912"/>
          </a:xfrm>
          <a:prstGeom prst="rect">
            <a:avLst/>
          </a:prstGeom>
          <a:solidFill>
            <a:srgbClr val="24313F"/>
          </a:solidFill>
          <a:ln w="12700">
            <a:solidFill>
              <a:srgbClr val="3141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57860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2578608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分診層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52928" y="2578608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規則優先 · 相似單檢索 · 影響面計算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108960"/>
            <a:ext cx="8595360" cy="438912"/>
          </a:xfrm>
          <a:prstGeom prst="rect">
            <a:avLst/>
          </a:prstGeom>
          <a:solidFill>
            <a:srgbClr val="24313F"/>
          </a:solidFill>
          <a:ln w="12700">
            <a:solidFill>
              <a:srgbClr val="3141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108960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10896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診斷層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52928" y="3108960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七支唯讀探針 · Top-3 根因假設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187952"/>
            <a:ext cx="8595360" cy="438912"/>
          </a:xfrm>
          <a:prstGeom prst="rect">
            <a:avLst/>
          </a:prstGeom>
          <a:solidFill>
            <a:srgbClr val="31241C"/>
          </a:solidFill>
          <a:ln w="12700">
            <a:solidFill>
              <a:srgbClr val="5A3A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4187952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41879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處置層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852928" y="4187952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受控執行 · 允許清單 · 三級風險閘門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718304"/>
            <a:ext cx="8595360" cy="438912"/>
          </a:xfrm>
          <a:prstGeom prst="rect">
            <a:avLst/>
          </a:prstGeom>
          <a:solidFill>
            <a:srgbClr val="31241C"/>
          </a:solidFill>
          <a:ln w="12700">
            <a:solidFill>
              <a:srgbClr val="5A3A2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" y="4718304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71600" y="4718304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驗證層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852928" y="4718304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重跑原始檢測 · soak 期 · 未過退回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5248656"/>
            <a:ext cx="8595360" cy="438912"/>
          </a:xfrm>
          <a:prstGeom prst="rect">
            <a:avLst/>
          </a:prstGeom>
          <a:solidFill>
            <a:srgbClr val="31241C"/>
          </a:solidFill>
          <a:ln w="12700">
            <a:solidFill>
              <a:srgbClr val="5A3A2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5248656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L6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71600" y="5248656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學習層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852928" y="5248656"/>
            <a:ext cx="6126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知識回寫 · 根因聚類 · 提案新偵測器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6928" y="3621024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以上唯讀，錯了最多是誤報　　以下會寫入，每個動作都必須來自允許清單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66928" y="3913632"/>
            <a:ext cx="8595360" cy="18288"/>
          </a:xfrm>
          <a:prstGeom prst="rect">
            <a:avLst/>
          </a:prstGeom>
          <a:solidFill>
            <a:srgbClr val="B84A16"/>
          </a:solidFill>
          <a:ln w="12700">
            <a:solidFill>
              <a:srgbClr val="B84A1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73768" y="1463040"/>
            <a:ext cx="20509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六個 Agent · 模型路由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573768" y="1920240"/>
            <a:ext cx="1066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提單助理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640288" y="1920240"/>
            <a:ext cx="98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E90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Haiku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573768" y="2304288"/>
            <a:ext cx="1066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分診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640288" y="2304288"/>
            <a:ext cx="98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E90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Haiku + 規則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573768" y="2688336"/>
            <a:ext cx="1066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檢索回覆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640288" y="2688336"/>
            <a:ext cx="98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E90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Sonnet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573768" y="3072384"/>
            <a:ext cx="1066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診斷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640288" y="3072384"/>
            <a:ext cx="98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Opus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573768" y="3456432"/>
            <a:ext cx="1066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修復規劃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0640288" y="3456432"/>
            <a:ext cx="98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E90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Sonnet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573768" y="3840480"/>
            <a:ext cx="1066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驗證回寫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640288" y="3840480"/>
            <a:ext cx="98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7E90A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Sonnet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573768" y="4398264"/>
            <a:ext cx="20509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E90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全案只有診斷 Agent 值得用最強模型。其他若需升級，先檢查是不是 prompt 或 schema 設計有問題。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66928" y="5888736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L6 學到的規則回饋成 L0 的新偵測器 —— 這條迴圈是系統越用越省的原因。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FB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pPr algn="r" indent="0" marL="0">
              <a:buNone/>
            </a:pPr>
            <a:r>
              <a:rPr lang="en-US" sz="1000" dirty="0">
                <a:solidFill>
                  <a:srgbClr val="6E7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621792" cy="274320"/>
          </a:xfrm>
          <a:prstGeom prst="roundRect">
            <a:avLst>
              <a:gd name="adj" fmla="val 16667"/>
            </a:avLst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人機邊界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畫線，然後反駁自己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三道判準，以及三個把自己的判準拆開來檢查的問題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048256"/>
            <a:ext cx="2103120" cy="512064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04825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可逆嗎？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98648" y="2048256"/>
            <a:ext cx="2103120" cy="512064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98648" y="204825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誰承擔後果？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30368" y="2048256"/>
            <a:ext cx="2103120" cy="512064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30368" y="204825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錯了看得出來嗎？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90688" y="2048256"/>
            <a:ext cx="38340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三題有任何一題不及格 → 人決策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2834640"/>
            <a:ext cx="3533546" cy="214884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3017520"/>
            <a:ext cx="309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檢驗一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86384" y="3255264"/>
            <a:ext cx="3094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把「做不到」偽裝成「不該做」？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86384" y="3675888"/>
            <a:ext cx="309463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中風險只要單人核准，理由是可逆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但回退期間的資料缺口不可逆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延長 soak 期並顯示缺口量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329074" y="2834640"/>
            <a:ext cx="3533546" cy="2148840"/>
          </a:xfrm>
          <a:prstGeom prst="rect">
            <a:avLst/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8530" y="3017520"/>
            <a:ext cx="309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檢驗二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48530" y="3255264"/>
            <a:ext cx="3094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人是在決策還是按核准鍵？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48530" y="3675888"/>
            <a:ext cx="309463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核准通過率長期 &gt;95% 等於橡皮圖章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護欄是假的，只是轉嫁責任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把通過率列為監控指標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091221" y="2834640"/>
            <a:ext cx="3533546" cy="214884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10677" y="3017520"/>
            <a:ext cx="30946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檢驗三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310677" y="3255264"/>
            <a:ext cx="3094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失敗時誰知道、多久知道？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10677" y="3675888"/>
            <a:ext cx="3094634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擋錯單、分錯類都是靜默失敗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沒人發現比做錯更危險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影子佇列每日人工掃描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5230368"/>
            <a:ext cx="11057839" cy="713232"/>
          </a:xfrm>
          <a:prstGeom prst="rect">
            <a:avLst/>
          </a:prstGeom>
          <a:solidFill>
            <a:srgbClr val="16202B"/>
          </a:solidFill>
          <a:ln w="12700">
            <a:solidFill>
              <a:srgbClr val="1620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5230368"/>
            <a:ext cx="1047262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高風險動作 —— 動預算、改出價、刪除受眾、變更 schema —— 永遠只建議，不執行。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516636" cy="274320"/>
          </a:xfrm>
          <a:prstGeom prst="roundRect">
            <a:avLst>
              <a:gd name="adj" fmla="val 16667"/>
            </a:avLst>
          </a:prstGeom>
          <a:solidFill>
            <a:srgbClr val="F6E4DA"/>
          </a:solidFill>
          <a:ln w="12700">
            <a:solidFill>
              <a:srgbClr val="F6E4D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7200"/>
            <a:ext cx="516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誠實度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兩個推翻我自己假設的發現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42646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如果資料只用來證實既有想法，就不需要蒐集資料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2084832"/>
            <a:ext cx="5346040" cy="246888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2267712"/>
            <a:ext cx="490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反例 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86384" y="2505456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「越急越講不清楚」只部分成立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2926080"/>
            <a:ext cx="490712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急件完整度 50，四級中最低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但 P3 排程單也只有 52，P1 反而最高（59）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低完整度有兩種成因：急件來不及寫、低優先級懶得寫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護欄必須分開設計，不能一套打天下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8728" y="2084832"/>
            <a:ext cx="5346040" cy="2468880"/>
          </a:xfrm>
          <a:prstGeom prst="rect">
            <a:avLst/>
          </a:prstGeom>
          <a:solidFill>
            <a:srgbClr val="EFF2F5"/>
          </a:solidFill>
          <a:ln w="12700">
            <a:solidFill>
              <a:srgbClr val="EFF2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8184" y="2267712"/>
            <a:ext cx="4907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反例 B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98184" y="2505456"/>
            <a:ext cx="490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重複工單根本不是問題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8184" y="2926080"/>
            <a:ext cx="490712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重複單率僅 1.1%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原本假設的「重複提問浪費」不成立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重複單偵測在架構中降級為次要功能</a:t>
            </a:r>
            <a:endParaRPr lang="en-US" sz="12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資源全部集中在釐清成本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4846320"/>
            <a:ext cx="11057839" cy="12802"/>
          </a:xfrm>
          <a:prstGeom prst="rect">
            <a:avLst/>
          </a:prstGeom>
          <a:solidFill>
            <a:srgbClr val="D3DBE3"/>
          </a:solidFill>
          <a:ln w="12700">
            <a:solidFill>
              <a:srgbClr val="D3DB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5029200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同樣的誠實：拒絕業界常見的效益灌水算法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66928" y="5376672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多數廠商把 deflection（客戶放棄詢問）計入 resolution（問題真的被解決），本專案明確區分兩者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431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不引用任何外部「AI 解決率」基準，只用自己資料算出的上限，並標明是理論天花板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algn="r" indent="0" marL="0">
              <a:buNone/>
            </a:pPr>
            <a:r>
              <a:rPr lang="en-US" sz="1000" dirty="0">
                <a:solidFill>
                  <a:srgbClr val="5C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66928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交付與亮點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66928" y="1133856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規劃不是終點，是開發的起點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2558720" cy="1463040"/>
          </a:xfrm>
          <a:prstGeom prst="rect">
            <a:avLst/>
          </a:prstGeom>
          <a:solidFill>
            <a:srgbClr val="24313F"/>
          </a:solidFill>
          <a:ln w="12700">
            <a:solidFill>
              <a:srgbClr val="3141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975104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1,743 小時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49808" y="2468880"/>
            <a:ext cx="219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可回收工程時數上限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佔總工時 53.0%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399968" y="1828800"/>
            <a:ext cx="2558720" cy="1463040"/>
          </a:xfrm>
          <a:prstGeom prst="rect">
            <a:avLst/>
          </a:prstGeom>
          <a:solidFill>
            <a:srgbClr val="24313F"/>
          </a:solidFill>
          <a:ln w="12700">
            <a:solidFill>
              <a:srgbClr val="3141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82848" y="1975104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個測試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582848" y="2468880"/>
            <a:ext cx="219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含因果鏈驗證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資料還原不出關聯就 CI 紅燈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3008" y="1828800"/>
            <a:ext cx="2558720" cy="1463040"/>
          </a:xfrm>
          <a:prstGeom prst="rect">
            <a:avLst/>
          </a:prstGeom>
          <a:solidFill>
            <a:srgbClr val="24313F"/>
          </a:solidFill>
          <a:ln w="12700">
            <a:solidFill>
              <a:srgbClr val="3141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15888" y="1975104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道 CI 護欄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15888" y="2468880"/>
            <a:ext cx="219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探針唯讀掃描 · 允許清單檢查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分類法漂移檢查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66047" y="1828800"/>
            <a:ext cx="2558720" cy="1463040"/>
          </a:xfrm>
          <a:prstGeom prst="rect">
            <a:avLst/>
          </a:prstGeom>
          <a:solidFill>
            <a:srgbClr val="24313F"/>
          </a:solidFill>
          <a:ln w="12700">
            <a:solidFill>
              <a:srgbClr val="3141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48927" y="1975104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個任務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248927" y="2468880"/>
            <a:ext cx="219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六階段編號 backlog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F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解壓縮就能接著開發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3584448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4A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這個專案想證明的三件事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396849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398678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從資料反推系統，不是從技術反推需求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15568" y="4261104"/>
            <a:ext cx="105091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「L1 只佔 25.3% 工單卻吃掉 34% 工時」直接決定了投資順序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462686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15568" y="46451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安全設計是架構的一部分，不是附加條款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15568" y="4919472"/>
            <a:ext cx="105091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唯讀邊界、允許清單、風險閘門，每條都對應一個具體失敗模式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528523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4A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15568" y="53035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規劃書與程式共用同一份 spec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15568" y="5577840"/>
            <a:ext cx="1050919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FA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分類法與動作清單抽成 YAML，文件與實作不會不同步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59984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7F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資料為模擬生成，不含任何真實企業或客戶資料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527487" y="62910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FB0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algn="r" indent="0" marL="0">
              <a:buNone/>
            </a:pPr>
            <a:r>
              <a:rPr lang="en-US" sz="1000" dirty="0">
                <a:solidFill>
                  <a:srgbClr val="6E7F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aliencatuniverse.tw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AdOps AI Triage</dc:title>
  <dc:subject>廣告支援工程需求單的 AI 化設計</dc:subject>
  <dc:creator>Angel</dc:creator>
  <cp:lastModifiedBy>Angel</cp:lastModifiedBy>
  <cp:revision>1</cp:revision>
  <dcterms:created xsi:type="dcterms:W3CDTF">2026-08-23T21:57:27Z</dcterms:created>
  <dcterms:modified xsi:type="dcterms:W3CDTF">2026-08-23T21:57:27Z</dcterms:modified>
</cp:coreProperties>
</file>